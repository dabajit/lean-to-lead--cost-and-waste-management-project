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5" r:id="rId3"/>
    <p:sldId id="270" r:id="rId4"/>
    <p:sldId id="262" r:id="rId5"/>
    <p:sldId id="272" r:id="rId6"/>
    <p:sldId id="267" r:id="rId7"/>
    <p:sldId id="268" r:id="rId8"/>
    <p:sldId id="273" r:id="rId9"/>
    <p:sldId id="277" r:id="rId10"/>
    <p:sldId id="274" r:id="rId11"/>
    <p:sldId id="275" r:id="rId12"/>
    <p:sldId id="269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DA1A"/>
    <a:srgbClr val="4A596F"/>
    <a:srgbClr val="66612F"/>
    <a:srgbClr val="242D38"/>
    <a:srgbClr val="333F4F"/>
    <a:srgbClr val="44546A"/>
    <a:srgbClr val="255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2406F-01CB-4FD1-9A39-8086EA7B9013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E9269-4703-4511-A24F-E76E09B2A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7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935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385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678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015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734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748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426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050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091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475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530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B3AE-8E34-4534-922B-E380FB565A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417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77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5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9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5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6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2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89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0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3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4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-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/>
          <p:cNvSpPr/>
          <p:nvPr userDrawn="1"/>
        </p:nvSpPr>
        <p:spPr>
          <a:xfrm>
            <a:off x="0" y="1"/>
            <a:ext cx="9962166" cy="4723331"/>
          </a:xfrm>
          <a:custGeom>
            <a:avLst/>
            <a:gdLst>
              <a:gd name="connsiteX0" fmla="*/ 0 w 9962166"/>
              <a:gd name="connsiteY0" fmla="*/ 0 h 4723331"/>
              <a:gd name="connsiteX1" fmla="*/ 9962166 w 9962166"/>
              <a:gd name="connsiteY1" fmla="*/ 0 h 4723331"/>
              <a:gd name="connsiteX2" fmla="*/ 3628293 w 9962166"/>
              <a:gd name="connsiteY2" fmla="*/ 4723331 h 4723331"/>
              <a:gd name="connsiteX3" fmla="*/ 0 w 9962166"/>
              <a:gd name="connsiteY3" fmla="*/ 2098805 h 4723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62166" h="4723331">
                <a:moveTo>
                  <a:pt x="0" y="0"/>
                </a:moveTo>
                <a:lnTo>
                  <a:pt x="9962166" y="0"/>
                </a:lnTo>
                <a:lnTo>
                  <a:pt x="3628293" y="4723331"/>
                </a:lnTo>
                <a:lnTo>
                  <a:pt x="0" y="2098805"/>
                </a:lnTo>
                <a:close/>
              </a:path>
            </a:pathLst>
          </a:custGeom>
          <a:solidFill>
            <a:schemeClr val="bg1">
              <a:lumMod val="95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/>
          <p:cNvSpPr/>
          <p:nvPr userDrawn="1"/>
        </p:nvSpPr>
        <p:spPr>
          <a:xfrm rot="5400000">
            <a:off x="-487322" y="3075509"/>
            <a:ext cx="4269815" cy="3295170"/>
          </a:xfrm>
          <a:custGeom>
            <a:avLst/>
            <a:gdLst>
              <a:gd name="connsiteX0" fmla="*/ 0 w 4269815"/>
              <a:gd name="connsiteY0" fmla="*/ 3295170 h 3295170"/>
              <a:gd name="connsiteX1" fmla="*/ 2383562 w 4269815"/>
              <a:gd name="connsiteY1" fmla="*/ 0 h 3295170"/>
              <a:gd name="connsiteX2" fmla="*/ 4269815 w 4269815"/>
              <a:gd name="connsiteY2" fmla="*/ 2529419 h 3295170"/>
              <a:gd name="connsiteX3" fmla="*/ 4269815 w 4269815"/>
              <a:gd name="connsiteY3" fmla="*/ 3295170 h 3295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9815" h="3295170">
                <a:moveTo>
                  <a:pt x="0" y="3295170"/>
                </a:moveTo>
                <a:lnTo>
                  <a:pt x="2383562" y="0"/>
                </a:lnTo>
                <a:lnTo>
                  <a:pt x="4269815" y="2529419"/>
                </a:lnTo>
                <a:lnTo>
                  <a:pt x="4269815" y="3295170"/>
                </a:lnTo>
                <a:close/>
              </a:path>
            </a:pathLst>
          </a:custGeom>
          <a:solidFill>
            <a:schemeClr val="bg1">
              <a:lumMod val="95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/>
          <p:cNvSpPr/>
          <p:nvPr userDrawn="1"/>
        </p:nvSpPr>
        <p:spPr>
          <a:xfrm rot="10800000" flipV="1">
            <a:off x="1423477" y="5213253"/>
            <a:ext cx="4479354" cy="1644747"/>
          </a:xfrm>
          <a:custGeom>
            <a:avLst/>
            <a:gdLst>
              <a:gd name="connsiteX0" fmla="*/ 2273790 w 4479354"/>
              <a:gd name="connsiteY0" fmla="*/ 0 h 1644747"/>
              <a:gd name="connsiteX1" fmla="*/ 0 w 4479354"/>
              <a:gd name="connsiteY1" fmla="*/ 1644747 h 1644747"/>
              <a:gd name="connsiteX2" fmla="*/ 4479354 w 4479354"/>
              <a:gd name="connsiteY2" fmla="*/ 1644747 h 1644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79354" h="1644747">
                <a:moveTo>
                  <a:pt x="2273790" y="0"/>
                </a:moveTo>
                <a:lnTo>
                  <a:pt x="0" y="1644747"/>
                </a:lnTo>
                <a:lnTo>
                  <a:pt x="4479354" y="1644747"/>
                </a:lnTo>
                <a:close/>
              </a:path>
            </a:pathLst>
          </a:custGeom>
          <a:solidFill>
            <a:schemeClr val="bg1">
              <a:lumMod val="95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511525" y="2580"/>
            <a:ext cx="7168950" cy="524451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72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 defTabSz="914354"/>
            <a:r>
              <a:rPr lang="en-US"/>
              <a:t>BIG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2809875" y="5565922"/>
            <a:ext cx="6572251" cy="79042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032250" y="4381100"/>
            <a:ext cx="4127500" cy="977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4800" b="1">
                <a:solidFill>
                  <a:schemeClr val="accent3"/>
                </a:solidFill>
              </a:defRPr>
            </a:lvl2pPr>
            <a:lvl3pPr marL="914400" indent="0" algn="ctr">
              <a:buNone/>
              <a:defRPr sz="4400" b="1">
                <a:solidFill>
                  <a:schemeClr val="accent3"/>
                </a:solidFill>
              </a:defRPr>
            </a:lvl3pPr>
            <a:lvl4pPr marL="1371600" indent="0" algn="ctr">
              <a:buNone/>
              <a:defRPr sz="4000" b="1">
                <a:solidFill>
                  <a:schemeClr val="accent3"/>
                </a:solidFill>
              </a:defRPr>
            </a:lvl4pPr>
            <a:lvl5pPr marL="1828800" indent="0" algn="ctr">
              <a:buNone/>
              <a:defRPr sz="40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…is beautiful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838200" y="6268542"/>
            <a:ext cx="10515600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97360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38638" y="6356350"/>
            <a:ext cx="6914724" cy="365125"/>
          </a:xfrm>
          <a:prstGeom prst="rect">
            <a:avLst/>
          </a:prstGeom>
        </p:spPr>
        <p:txBody>
          <a:bodyPr rIns="365760"/>
          <a:lstStyle>
            <a:lvl1pPr algn="ctr"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88488" y="6356350"/>
            <a:ext cx="865312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>
              <a:defRPr lang="en-US" smtClean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FC1CF07D-8B3F-4D32-B059-0039CEA46DB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0374766" y="6356350"/>
            <a:ext cx="0" cy="365125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0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25EC0-F686-4331-B629-C1396D78DBC6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9C70A-6A29-43BD-B51B-24F8C1D2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0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1" r="16557"/>
          <a:stretch/>
        </p:blipFill>
        <p:spPr>
          <a:xfrm>
            <a:off x="7737231" y="4179150"/>
            <a:ext cx="4318780" cy="20018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93962" y="2109492"/>
            <a:ext cx="7390564" cy="1392702"/>
          </a:xfrm>
          <a:prstGeom prst="roundRect">
            <a:avLst/>
          </a:prstGeom>
          <a:solidFill>
            <a:srgbClr val="242D38">
              <a:alpha val="6980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Nomination for Business Excellence Award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16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9154" y="980512"/>
            <a:ext cx="120425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Project Name: </a:t>
            </a:r>
            <a:r>
              <a:rPr lang="en-US" b="1" dirty="0" err="1" smtClean="0">
                <a:solidFill>
                  <a:schemeClr val="bg1"/>
                </a:solidFill>
              </a:rPr>
              <a:t>Tyre</a:t>
            </a:r>
            <a:r>
              <a:rPr lang="en-US" b="1" dirty="0" smtClean="0">
                <a:solidFill>
                  <a:schemeClr val="bg1"/>
                </a:solidFill>
              </a:rPr>
              <a:t> Retreading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Project ID: SCM-LOG-014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Project Lead: </a:t>
            </a:r>
            <a:r>
              <a:rPr lang="en-US" b="1" dirty="0" err="1" smtClean="0">
                <a:solidFill>
                  <a:schemeClr val="bg1"/>
                </a:solidFill>
              </a:rPr>
              <a:t>Dabajit</a:t>
            </a:r>
            <a:r>
              <a:rPr lang="en-US" b="1" dirty="0" smtClean="0">
                <a:solidFill>
                  <a:schemeClr val="bg1"/>
                </a:solidFill>
              </a:rPr>
              <a:t> Paul</a:t>
            </a:r>
          </a:p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Team Members incl. Position Title: 	Mohammad </a:t>
            </a:r>
            <a:r>
              <a:rPr lang="en-US" b="1" dirty="0" err="1" smtClean="0">
                <a:solidFill>
                  <a:schemeClr val="bg1"/>
                </a:solidFill>
              </a:rPr>
              <a:t>Khorshed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Alam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	</a:t>
            </a:r>
            <a:r>
              <a:rPr lang="en-US" b="1" dirty="0" smtClean="0">
                <a:solidFill>
                  <a:schemeClr val="bg1"/>
                </a:solidFill>
              </a:rPr>
              <a:t>			(Assistant Executive-Workshop)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154" y="523312"/>
            <a:ext cx="6504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Nomination Category: Innovation Excellence 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Rounded Rectangle 1"/>
          <p:cNvSpPr/>
          <p:nvPr/>
        </p:nvSpPr>
        <p:spPr>
          <a:xfrm>
            <a:off x="7779434" y="334569"/>
            <a:ext cx="4328158" cy="6945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Project Savings</a:t>
            </a:r>
            <a:r>
              <a:rPr lang="en-US" b="1" dirty="0" smtClean="0">
                <a:solidFill>
                  <a:schemeClr val="tx1"/>
                </a:solidFill>
              </a:rPr>
              <a:t>: BDT 4,690,445.00</a:t>
            </a:r>
          </a:p>
        </p:txBody>
      </p:sp>
    </p:spTree>
    <p:extLst>
      <p:ext uri="{BB962C8B-B14F-4D97-AF65-F5344CB8AC3E}">
        <p14:creationId xmlns:p14="http://schemas.microsoft.com/office/powerpoint/2010/main" val="262731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450669" cy="12801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	</a:t>
            </a:r>
            <a:b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What is </a:t>
            </a:r>
            <a:r>
              <a:rPr lang="en-US" b="1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Tyre</a:t>
            </a:r>
            <a:r>
              <a:rPr lang="en-US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 retreading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813" y="1894114"/>
            <a:ext cx="2523898" cy="325265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894114"/>
            <a:ext cx="3932237" cy="3974873"/>
          </a:xfrm>
        </p:spPr>
        <p:txBody>
          <a:bodyPr/>
          <a:lstStyle/>
          <a:p>
            <a:pPr algn="just"/>
            <a:r>
              <a:rPr lang="en-US" sz="2000" b="1" dirty="0"/>
              <a:t>A worn casing of </a:t>
            </a:r>
            <a:r>
              <a:rPr lang="en-US" sz="2000" b="1" dirty="0" err="1"/>
              <a:t>tyre</a:t>
            </a:r>
            <a:r>
              <a:rPr lang="en-US" sz="2000" b="1" dirty="0"/>
              <a:t> that has a good structural quality is taken off the vehicle and is given a renewed tread. After that, the revamped </a:t>
            </a:r>
            <a:r>
              <a:rPr lang="en-US" sz="2000" b="1" dirty="0" err="1"/>
              <a:t>tyre</a:t>
            </a:r>
            <a:r>
              <a:rPr lang="en-US" sz="2000" b="1" dirty="0"/>
              <a:t> is processed forward for a curing process in which the new rubber is vulcanized to the original casing and hence the </a:t>
            </a:r>
            <a:r>
              <a:rPr lang="en-US" sz="2000" b="1" dirty="0" err="1"/>
              <a:t>tyre</a:t>
            </a:r>
            <a:r>
              <a:rPr lang="en-US" sz="2000" b="1" dirty="0"/>
              <a:t> gets a newly made tread pattern.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619" y="1894114"/>
            <a:ext cx="2468391" cy="3252652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8155692" y="3355457"/>
            <a:ext cx="1223927" cy="4846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90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Brief description of initiative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400" dirty="0" err="1"/>
              <a:t>Tyre</a:t>
            </a:r>
            <a:r>
              <a:rPr lang="en-US" sz="2400" dirty="0"/>
              <a:t> is a very essential and mostly consumed item in fleet operation. Each year we need to purchase a big volume of </a:t>
            </a:r>
            <a:r>
              <a:rPr lang="en-US" sz="2400" dirty="0" err="1"/>
              <a:t>tyre</a:t>
            </a:r>
            <a:r>
              <a:rPr lang="en-US" sz="2400" dirty="0"/>
              <a:t> for our own fleet to replace old and damaged </a:t>
            </a:r>
            <a:r>
              <a:rPr lang="en-US" sz="2400" dirty="0" err="1"/>
              <a:t>tyre</a:t>
            </a:r>
            <a:r>
              <a:rPr lang="en-US" sz="2400" dirty="0"/>
              <a:t> frequently. In earlier we only replaced new </a:t>
            </a:r>
            <a:r>
              <a:rPr lang="en-US" sz="2400" dirty="0" err="1"/>
              <a:t>tyre</a:t>
            </a:r>
            <a:r>
              <a:rPr lang="en-US" sz="2400" dirty="0"/>
              <a:t> while required but we didn’t consider to reuse the </a:t>
            </a:r>
            <a:r>
              <a:rPr lang="en-US" sz="2400" dirty="0" err="1"/>
              <a:t>tyre</a:t>
            </a:r>
            <a:r>
              <a:rPr lang="en-US" sz="2400" dirty="0"/>
              <a:t> by retreading.  The initiative was taken since July 2020 to re-utilize of old </a:t>
            </a:r>
            <a:r>
              <a:rPr lang="en-US" sz="2400" dirty="0" err="1"/>
              <a:t>tyre</a:t>
            </a:r>
            <a:r>
              <a:rPr lang="en-US" sz="2400" dirty="0"/>
              <a:t> by </a:t>
            </a:r>
            <a:r>
              <a:rPr lang="en-US" sz="2400" dirty="0" smtClean="0"/>
              <a:t>retread </a:t>
            </a:r>
            <a:r>
              <a:rPr lang="en-US" sz="2400" dirty="0"/>
              <a:t>that reduced the </a:t>
            </a:r>
            <a:r>
              <a:rPr lang="en-US" sz="2400" dirty="0" err="1"/>
              <a:t>tyre</a:t>
            </a:r>
            <a:r>
              <a:rPr lang="en-US" sz="2400" dirty="0"/>
              <a:t> </a:t>
            </a:r>
            <a:r>
              <a:rPr lang="en-US" sz="2400" dirty="0" smtClean="0"/>
              <a:t>operating </a:t>
            </a:r>
            <a:r>
              <a:rPr lang="en-US" sz="2400" dirty="0"/>
              <a:t>costs significantly. Retread is a process of which we may optimize </a:t>
            </a:r>
            <a:r>
              <a:rPr lang="en-US" sz="2400" dirty="0" err="1"/>
              <a:t>tyre</a:t>
            </a:r>
            <a:r>
              <a:rPr lang="en-US" sz="2400" dirty="0"/>
              <a:t> utilization; reduce waste and savings of  cost as well. Our objective is to retread  minimum 15-20% </a:t>
            </a:r>
            <a:r>
              <a:rPr lang="en-US" sz="2400" dirty="0" err="1"/>
              <a:t>tyre</a:t>
            </a:r>
            <a:r>
              <a:rPr lang="en-US" sz="2400" dirty="0"/>
              <a:t> against total volume regularly.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20841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Tyre</a:t>
            </a:r>
            <a:r>
              <a:rPr lang="en-US" dirty="0" smtClean="0">
                <a:solidFill>
                  <a:schemeClr val="bg1"/>
                </a:solidFill>
              </a:rPr>
              <a:t> Retreading Process	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  <p:sp>
        <p:nvSpPr>
          <p:cNvPr id="4" name="Rectangle 3"/>
          <p:cNvSpPr/>
          <p:nvPr/>
        </p:nvSpPr>
        <p:spPr>
          <a:xfrm>
            <a:off x="838199" y="1838216"/>
            <a:ext cx="2286000" cy="1035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Collection of </a:t>
            </a:r>
            <a:r>
              <a:rPr lang="en-US" b="1" dirty="0" err="1" smtClean="0">
                <a:solidFill>
                  <a:schemeClr val="tx1"/>
                </a:solidFill>
              </a:rPr>
              <a:t>Tyres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124200" y="2145012"/>
            <a:ext cx="481149" cy="484632"/>
          </a:xfrm>
          <a:prstGeom prst="rightArrow">
            <a:avLst/>
          </a:prstGeom>
          <a:solidFill>
            <a:srgbClr val="FFDA1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1275" y="1825625"/>
            <a:ext cx="2415758" cy="1126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Initial Inspection at site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6018343" y="2145012"/>
            <a:ext cx="664029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87823" y="1806247"/>
            <a:ext cx="2266085" cy="1129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Vendor Selection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8913048" y="2173853"/>
            <a:ext cx="664029" cy="48463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577077" y="1851291"/>
            <a:ext cx="1555670" cy="1129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Buffing after inspection</a:t>
            </a:r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10257872" y="2980836"/>
            <a:ext cx="484632" cy="677134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646575" y="3618411"/>
            <a:ext cx="170722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Section repairing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813101" y="3598234"/>
            <a:ext cx="2030451" cy="934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Cementing and filling</a:t>
            </a:r>
            <a:endParaRPr lang="en-US" dirty="0"/>
          </a:p>
        </p:txBody>
      </p:sp>
      <p:sp>
        <p:nvSpPr>
          <p:cNvPr id="16" name="Left Arrow 15"/>
          <p:cNvSpPr/>
          <p:nvPr/>
        </p:nvSpPr>
        <p:spPr>
          <a:xfrm>
            <a:off x="8843553" y="3813118"/>
            <a:ext cx="803021" cy="484632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/>
          <p:cNvSpPr/>
          <p:nvPr/>
        </p:nvSpPr>
        <p:spPr>
          <a:xfrm>
            <a:off x="6059308" y="3813118"/>
            <a:ext cx="752921" cy="484632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62549" y="3618411"/>
            <a:ext cx="198306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Building-tread rubber</a:t>
            </a:r>
            <a:endParaRPr lang="en-US" dirty="0"/>
          </a:p>
        </p:txBody>
      </p:sp>
      <p:sp>
        <p:nvSpPr>
          <p:cNvPr id="19" name="Left Arrow 18"/>
          <p:cNvSpPr/>
          <p:nvPr/>
        </p:nvSpPr>
        <p:spPr>
          <a:xfrm>
            <a:off x="3448593" y="3813118"/>
            <a:ext cx="600259" cy="484632"/>
          </a:xfrm>
          <a:prstGeom prst="lef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593669" y="3657970"/>
            <a:ext cx="184122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Curing by chamber</a:t>
            </a:r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>
            <a:off x="2208059" y="4572370"/>
            <a:ext cx="484632" cy="613955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93668" y="5197670"/>
            <a:ext cx="184122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Final inspection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69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0810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Tyre</a:t>
            </a:r>
            <a:r>
              <a:rPr lang="en-US" dirty="0" smtClean="0">
                <a:solidFill>
                  <a:schemeClr val="bg1"/>
                </a:solidFill>
              </a:rPr>
              <a:t> Retreading Process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1843054"/>
            <a:ext cx="12192000" cy="435774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8194" y="1555935"/>
            <a:ext cx="116651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 smtClean="0">
              <a:solidFill>
                <a:schemeClr val="bg1"/>
              </a:solidFill>
            </a:endParaRPr>
          </a:p>
          <a:p>
            <a:pPr marL="400050" indent="-400050">
              <a:buAutoNum type="romanLcParenR"/>
            </a:pPr>
            <a:endParaRPr lang="en-US" sz="1600" b="1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01138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74767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0" y="2492659"/>
            <a:ext cx="1907178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862" y="2484230"/>
            <a:ext cx="1995249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478" y="2484229"/>
            <a:ext cx="2246318" cy="27516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360" y="2477249"/>
            <a:ext cx="2373086" cy="26941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532584" y="2822532"/>
            <a:ext cx="2710615" cy="20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2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Tyre</a:t>
            </a:r>
            <a:r>
              <a:rPr lang="en-US" dirty="0" smtClean="0">
                <a:solidFill>
                  <a:schemeClr val="bg1"/>
                </a:solidFill>
              </a:rPr>
              <a:t> Retreading Process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9977" y="1681163"/>
            <a:ext cx="3500846" cy="609865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Before Retreading 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977" y="2416257"/>
            <a:ext cx="3500846" cy="3534270"/>
          </a:xfrm>
        </p:spPr>
      </p:pic>
      <p:sp>
        <p:nvSpPr>
          <p:cNvPr id="16" name="Text Placeholder 15"/>
          <p:cNvSpPr>
            <a:spLocks noGrp="1"/>
          </p:cNvSpPr>
          <p:nvPr>
            <p:ph type="body" sz="quarter" idx="3"/>
          </p:nvPr>
        </p:nvSpPr>
        <p:spPr>
          <a:xfrm>
            <a:off x="6698772" y="1555935"/>
            <a:ext cx="3529443" cy="651506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After Retreading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773" y="2265938"/>
            <a:ext cx="3529443" cy="3684588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8194" y="1555935"/>
            <a:ext cx="116651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 smtClean="0">
              <a:solidFill>
                <a:schemeClr val="bg1"/>
              </a:solidFill>
            </a:endParaRPr>
          </a:p>
          <a:p>
            <a:pPr marL="400050" indent="-400050">
              <a:buAutoNum type="romanLcParenR"/>
            </a:pPr>
            <a:endParaRPr lang="en-US" sz="1600" b="1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01138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74767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15475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1253"/>
            <a:ext cx="10515600" cy="1405411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Deliverables through this project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36664"/>
            <a:ext cx="10515600" cy="4740299"/>
          </a:xfrm>
        </p:spPr>
        <p:txBody>
          <a:bodyPr/>
          <a:lstStyle/>
          <a:p>
            <a:pPr marL="571500" indent="-571500">
              <a:buAutoNum type="romanLcParenR"/>
            </a:pPr>
            <a:r>
              <a:rPr lang="en-US" dirty="0" smtClean="0"/>
              <a:t>A new dimension of </a:t>
            </a:r>
            <a:r>
              <a:rPr lang="en-US" dirty="0" err="1" smtClean="0"/>
              <a:t>tyre</a:t>
            </a:r>
            <a:r>
              <a:rPr lang="en-US" dirty="0" smtClean="0"/>
              <a:t> utilization and hence reduce waste.</a:t>
            </a:r>
          </a:p>
          <a:p>
            <a:pPr marL="571500" indent="-571500">
              <a:buAutoNum type="romanLcParenR"/>
            </a:pPr>
            <a:r>
              <a:rPr lang="en-US" dirty="0" smtClean="0"/>
              <a:t>Cost reduction: 14</a:t>
            </a:r>
            <a:r>
              <a:rPr lang="en-US" dirty="0" smtClean="0"/>
              <a:t>%</a:t>
            </a:r>
          </a:p>
          <a:p>
            <a:pPr marL="0" indent="0">
              <a:buNone/>
            </a:pPr>
            <a:r>
              <a:rPr lang="en-US" sz="2000" b="1" dirty="0" smtClean="0"/>
              <a:t>	% of </a:t>
            </a:r>
            <a:r>
              <a:rPr lang="en-US" sz="2000" b="1" dirty="0" err="1" smtClean="0"/>
              <a:t>tyre</a:t>
            </a:r>
            <a:r>
              <a:rPr lang="en-US" sz="2000" b="1" dirty="0" smtClean="0"/>
              <a:t> cost in terms of total maintenance cost (2019-2020): 53%</a:t>
            </a:r>
          </a:p>
          <a:p>
            <a:pPr marL="0" indent="0">
              <a:buNone/>
            </a:pPr>
            <a:r>
              <a:rPr lang="en-US" sz="2000" b="1" dirty="0" smtClean="0"/>
              <a:t>	% </a:t>
            </a:r>
            <a:r>
              <a:rPr lang="en-US" sz="2000" b="1" dirty="0"/>
              <a:t>of </a:t>
            </a:r>
            <a:r>
              <a:rPr lang="en-US" sz="2000" b="1" dirty="0" err="1"/>
              <a:t>tyre</a:t>
            </a:r>
            <a:r>
              <a:rPr lang="en-US" sz="2000" b="1" dirty="0"/>
              <a:t> cost in terms of total maintenance </a:t>
            </a:r>
            <a:r>
              <a:rPr lang="en-US" sz="2000" b="1" dirty="0" smtClean="0"/>
              <a:t>cost (2020-2021): 39%</a:t>
            </a:r>
            <a:endParaRPr lang="en-US" sz="2000" b="1" dirty="0"/>
          </a:p>
          <a:p>
            <a:pPr marL="0" indent="0">
              <a:buNone/>
            </a:pPr>
            <a:r>
              <a:rPr lang="en-US" dirty="0" smtClean="0"/>
              <a:t>iii) </a:t>
            </a:r>
            <a:r>
              <a:rPr lang="en-US" dirty="0" smtClean="0"/>
              <a:t>Consumables </a:t>
            </a:r>
            <a:r>
              <a:rPr lang="en-US" dirty="0" smtClean="0"/>
              <a:t>reduction: 18</a:t>
            </a:r>
            <a:r>
              <a:rPr lang="en-US" dirty="0" smtClean="0"/>
              <a:t>%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sz="2000" b="1" dirty="0" smtClean="0"/>
              <a:t>No. of new </a:t>
            </a:r>
            <a:r>
              <a:rPr lang="en-US" sz="2000" b="1" dirty="0" err="1" smtClean="0"/>
              <a:t>tyre</a:t>
            </a:r>
            <a:r>
              <a:rPr lang="en-US" sz="2000" b="1" dirty="0"/>
              <a:t> </a:t>
            </a:r>
            <a:r>
              <a:rPr lang="en-US" sz="2000" b="1" dirty="0" smtClean="0"/>
              <a:t>issued (2019-2020): 1289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/>
              <a:t>No. of new </a:t>
            </a:r>
            <a:r>
              <a:rPr lang="en-US" sz="2000" b="1" dirty="0" err="1"/>
              <a:t>tyre</a:t>
            </a:r>
            <a:r>
              <a:rPr lang="en-US" sz="2000" b="1" dirty="0"/>
              <a:t> issued (</a:t>
            </a:r>
            <a:r>
              <a:rPr lang="en-US" sz="2000" b="1" dirty="0" smtClean="0"/>
              <a:t>2020-2021): 1057</a:t>
            </a:r>
          </a:p>
          <a:p>
            <a:pPr marL="0" indent="0">
              <a:buNone/>
            </a:pPr>
            <a:r>
              <a:rPr lang="en-US" sz="2000" dirty="0" err="1" smtClean="0"/>
              <a:t>iV</a:t>
            </a:r>
            <a:r>
              <a:rPr lang="en-US" sz="2000" dirty="0" smtClean="0"/>
              <a:t>) </a:t>
            </a:r>
            <a:r>
              <a:rPr lang="en-US" dirty="0" smtClean="0"/>
              <a:t>New </a:t>
            </a:r>
            <a:r>
              <a:rPr lang="en-US" dirty="0" smtClean="0"/>
              <a:t>vendor development</a:t>
            </a:r>
          </a:p>
          <a:p>
            <a:pPr marL="571500" indent="-571500">
              <a:buAutoNum type="romanLcParenR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401138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5132" y="0"/>
            <a:ext cx="121971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. 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74767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260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1254"/>
            <a:ext cx="10515600" cy="1169198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Future Vision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36664"/>
            <a:ext cx="10515600" cy="47402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Our future vision is to increase </a:t>
            </a:r>
            <a:r>
              <a:rPr lang="en-US" dirty="0" err="1" smtClean="0"/>
              <a:t>tyre</a:t>
            </a:r>
            <a:r>
              <a:rPr lang="en-US" dirty="0" smtClean="0"/>
              <a:t> re-utilization by retreading process. There are scopes to reduce </a:t>
            </a:r>
            <a:r>
              <a:rPr lang="en-US" dirty="0" err="1" smtClean="0"/>
              <a:t>tyre</a:t>
            </a:r>
            <a:r>
              <a:rPr lang="en-US" dirty="0" smtClean="0"/>
              <a:t> consumption if we can manage </a:t>
            </a:r>
            <a:r>
              <a:rPr lang="en-US" dirty="0" err="1" smtClean="0"/>
              <a:t>tyre</a:t>
            </a:r>
            <a:r>
              <a:rPr lang="en-US" dirty="0" smtClean="0"/>
              <a:t> management syste</a:t>
            </a:r>
            <a:r>
              <a:rPr lang="en-US" dirty="0" smtClean="0"/>
              <a:t>m in more definitive way.</a:t>
            </a:r>
            <a:r>
              <a:rPr lang="en-US" dirty="0" smtClean="0"/>
              <a:t> 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401138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5132" y="0"/>
            <a:ext cx="121971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. 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74767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9439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Challenges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622483"/>
          </a:xfrm>
        </p:spPr>
        <p:txBody>
          <a:bodyPr>
            <a:normAutofit/>
          </a:bodyPr>
          <a:lstStyle/>
          <a:p>
            <a:pPr marL="400050" indent="-400050">
              <a:buAutoNum type="romanLcParenR"/>
            </a:pPr>
            <a:r>
              <a:rPr lang="en-US" dirty="0" smtClean="0"/>
              <a:t>Vendor development</a:t>
            </a:r>
          </a:p>
          <a:p>
            <a:pPr marL="400050" indent="-400050">
              <a:buAutoNum type="romanLcParenR"/>
            </a:pPr>
            <a:r>
              <a:rPr lang="en-US" dirty="0" smtClean="0"/>
              <a:t>Initial selection</a:t>
            </a:r>
          </a:p>
          <a:p>
            <a:pPr marL="400050" indent="-400050">
              <a:buAutoNum type="romanLcParenR"/>
            </a:pPr>
            <a:r>
              <a:rPr lang="en-US" dirty="0" smtClean="0"/>
              <a:t>End user attitude</a:t>
            </a:r>
          </a:p>
          <a:p>
            <a:pPr marL="400050" indent="-400050">
              <a:buAutoNum type="romanLcParenR"/>
            </a:pPr>
            <a:r>
              <a:rPr lang="en-US" dirty="0" smtClean="0"/>
              <a:t>Failure issue</a:t>
            </a:r>
          </a:p>
          <a:p>
            <a:pPr marL="0" indent="0">
              <a:buNone/>
            </a:pPr>
            <a:endParaRPr lang="en-US" sz="1800" dirty="0" smtClean="0"/>
          </a:p>
          <a:p>
            <a:pPr marL="400050" indent="-400050">
              <a:buAutoNum type="romanLcParenR"/>
            </a:pPr>
            <a:endParaRPr lang="en-US" sz="1800" dirty="0" smtClean="0"/>
          </a:p>
          <a:p>
            <a:pPr marL="400050" indent="-400050">
              <a:buAutoNum type="romanLcParenR"/>
            </a:pPr>
            <a:endParaRPr lang="en-US" sz="1800" dirty="0" smtClean="0"/>
          </a:p>
          <a:p>
            <a:pPr marL="400050" indent="-400050">
              <a:buAutoNum type="romanLcParenR"/>
            </a:pPr>
            <a:endParaRPr lang="en-US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52130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Mitigation process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2012397"/>
            <a:ext cx="10515600" cy="4285456"/>
          </a:xfrm>
        </p:spPr>
        <p:txBody>
          <a:bodyPr>
            <a:normAutofit/>
          </a:bodyPr>
          <a:lstStyle/>
          <a:p>
            <a:pPr marL="400050" indent="-400050">
              <a:buAutoNum type="romanLcParenR"/>
            </a:pPr>
            <a:r>
              <a:rPr lang="en-US" sz="1800" dirty="0" smtClean="0">
                <a:solidFill>
                  <a:schemeClr val="bg1"/>
                </a:solidFill>
              </a:rPr>
              <a:t>Vendor development: </a:t>
            </a:r>
            <a:r>
              <a:rPr lang="en-US" sz="1800" dirty="0" smtClean="0"/>
              <a:t>Meeting; visit; counseling; procurement</a:t>
            </a:r>
          </a:p>
          <a:p>
            <a:pPr marL="400050" indent="-400050">
              <a:buAutoNum type="romanLcParenR"/>
            </a:pPr>
            <a:r>
              <a:rPr lang="en-US" sz="1800" dirty="0" smtClean="0">
                <a:solidFill>
                  <a:schemeClr val="bg1"/>
                </a:solidFill>
              </a:rPr>
              <a:t> Initial selection: </a:t>
            </a:r>
            <a:r>
              <a:rPr lang="en-US" sz="1800" dirty="0" smtClean="0"/>
              <a:t>Good eye patch; Training</a:t>
            </a:r>
          </a:p>
          <a:p>
            <a:pPr marL="400050" indent="-400050">
              <a:buAutoNum type="romanLcParenR"/>
            </a:pPr>
            <a:r>
              <a:rPr lang="en-US" sz="1800" dirty="0" smtClean="0">
                <a:solidFill>
                  <a:schemeClr val="bg1"/>
                </a:solidFill>
              </a:rPr>
              <a:t>End users attitude: </a:t>
            </a:r>
            <a:r>
              <a:rPr lang="en-US" sz="1800" dirty="0" smtClean="0"/>
              <a:t>Motivation</a:t>
            </a:r>
          </a:p>
          <a:p>
            <a:pPr marL="400050" indent="-400050">
              <a:buAutoNum type="romanLcParenR"/>
            </a:pPr>
            <a:r>
              <a:rPr lang="en-US" sz="1800" dirty="0" smtClean="0">
                <a:solidFill>
                  <a:schemeClr val="bg1"/>
                </a:solidFill>
              </a:rPr>
              <a:t>Failure rate: </a:t>
            </a:r>
            <a:r>
              <a:rPr lang="en-US" sz="1800" dirty="0" smtClean="0"/>
              <a:t>discussion, findings, warranty policy</a:t>
            </a:r>
          </a:p>
          <a:p>
            <a:pPr marL="0" indent="0">
              <a:buNone/>
            </a:pPr>
            <a:endParaRPr lang="en-US" sz="1800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4124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7457" y="457200"/>
            <a:ext cx="3932237" cy="115316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Some of the failures snapshot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8229600" y="198061"/>
            <a:ext cx="2872378" cy="2672863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147456" y="1854041"/>
            <a:ext cx="3932237" cy="381158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Failures may occur due to unseen leak; main casing inflation, operational issue etc.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197" y="2992765"/>
            <a:ext cx="3343003" cy="26728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888" y="198060"/>
            <a:ext cx="3048617" cy="267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3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1850" y="718458"/>
            <a:ext cx="10515600" cy="249500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CF07D-8B3F-4D32-B059-0039CEA46DB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101" y="5865572"/>
            <a:ext cx="2973491" cy="9144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90637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478</Words>
  <Application>Microsoft Office PowerPoint</Application>
  <PresentationFormat>Widescreen</PresentationFormat>
  <Paragraphs>230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           What is Tyre retreading </vt:lpstr>
      <vt:lpstr>Brief description of initiative</vt:lpstr>
      <vt:lpstr>Tyre Retreading Process </vt:lpstr>
      <vt:lpstr>Tyre Retreading Process</vt:lpstr>
      <vt:lpstr>Tyre Retreading Process</vt:lpstr>
      <vt:lpstr>Deliverables through this project</vt:lpstr>
      <vt:lpstr>Future Vision</vt:lpstr>
      <vt:lpstr>Challenges </vt:lpstr>
      <vt:lpstr>Mitigation process </vt:lpstr>
      <vt:lpstr>Some of the failures snapshot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Asif Bin Zaman</dc:creator>
  <cp:lastModifiedBy>Dabajit Paul</cp:lastModifiedBy>
  <cp:revision>101</cp:revision>
  <dcterms:created xsi:type="dcterms:W3CDTF">2021-06-28T04:52:19Z</dcterms:created>
  <dcterms:modified xsi:type="dcterms:W3CDTF">2021-09-04T11:47:37Z</dcterms:modified>
</cp:coreProperties>
</file>